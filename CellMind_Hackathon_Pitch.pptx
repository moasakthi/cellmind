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457200" cy="54864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D6C0"/>
                </a:solidFill>
                <a:latin typeface="Segoe UI"/>
              </a:rPr>
              <a:t>THE PROBLEM → 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Segoe UI"/>
              </a:rPr>
              <a:t>CellMind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8132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i="0">
                <a:solidFill>
                  <a:srgbClr val="3DD6C0"/>
                </a:solidFill>
                <a:latin typeface="Segoe UI"/>
              </a:rPr>
              <a:t>AI-powered quality inspection for solar panel manufacturing lines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57400"/>
            <a:ext cx="5394960" cy="416052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860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A63D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9748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 Solar capacity is scaling fast, but panel QA is still largely manual — slow, inconsistent, and expensive at production volume.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 Undetected defects (micro-cracks, electrical damage, dust/bird-drop buildup, snow coverage) silently cut panel efficiency and can create fire/safety risk.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 Manual inspectors catch defects late — after cells are already boxed or installed — driving costly rework and warranty claims.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>
                <a:solidFill>
                  <a:srgbClr val="FFFFFF"/>
                </a:solidFill>
                <a:latin typeface="Segoe UI"/>
              </a:rPr>
              <a:t>▸  Existing vision-AI demos classify a photo but stop there: no confidence safeguards, no root-cause context, no fit into a real factory workflow.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57400"/>
            <a:ext cx="5513832" cy="416052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3DD6C0"/>
                </a:solidFill>
                <a:latin typeface="Segoe UI"/>
              </a:rPr>
              <a:t>THE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97480"/>
            <a:ext cx="49377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3DD6C0"/>
                </a:solidFill>
                <a:latin typeface="Segoe UI"/>
              </a:rPr>
              <a:t>Real trained CNN. </a:t>
            </a:r>
            <a:r>
              <a:rPr sz="1350" b="0">
                <a:solidFill>
                  <a:srgbClr val="FFFFFF"/>
                </a:solidFill>
                <a:latin typeface="Segoe UI"/>
              </a:rPr>
              <a:t>A ResNet18 classifier, fine-tuned on real solar-panel imagery, detects 6 defect classes in seconds per panel.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3DD6C0"/>
                </a:solidFill>
                <a:latin typeface="Segoe UI"/>
              </a:rPr>
              <a:t>Confidence-gated automation. </a:t>
            </a:r>
            <a:r>
              <a:rPr sz="1350" b="0">
                <a:solidFill>
                  <a:srgbClr val="FFFFFF"/>
                </a:solidFill>
                <a:latin typeface="Segoe UI"/>
              </a:rPr>
              <a:t>Low-confidence predictions are auto-flagged for human review instead of guessing — AI that knows what it doesn't know.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3DD6C0"/>
                </a:solidFill>
                <a:latin typeface="Segoe UI"/>
              </a:rPr>
              <a:t>Full factory workflow, not a toy demo. </a:t>
            </a:r>
            <a:r>
              <a:rPr sz="1350" b="0">
                <a:solidFill>
                  <a:srgbClr val="FFFFFF"/>
                </a:solidFill>
                <a:latin typeface="Segoe UI"/>
              </a:rPr>
              <a:t>Batches, lines, cameras, investigations, retraining, RBAC, and audit logs — built to plug into a real production line.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3DD6C0"/>
                </a:solidFill>
                <a:latin typeface="Segoe UI"/>
              </a:rPr>
              <a:t>Root-cause reasoning. </a:t>
            </a:r>
            <a:r>
              <a:rPr sz="1350" b="0">
                <a:solidFill>
                  <a:srgbClr val="FFFFFF"/>
                </a:solidFill>
                <a:latin typeface="Segoe UI"/>
              </a:rPr>
              <a:t>Explains *why* a defect likely occurred (line, equipment, camera context) — not just what it 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CellMind  |  AI Quality Inspection for Solar 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1 / 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457200" cy="54864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D6C0"/>
                </a:solidFill>
                <a:latin typeface="Segoe UI"/>
              </a:rPr>
              <a:t>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Inside CellMind: Architecture &amp; Differentiation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104948" cy="16002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8306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D6C0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67128"/>
            <a:ext cx="18306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Camera /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587752"/>
            <a:ext cx="18306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Panel image captured on the line or uploaded via API</a:t>
            </a:r>
          </a:p>
        </p:txBody>
      </p:sp>
      <p:sp>
        <p:nvSpPr>
          <p:cNvPr id="10" name="Chevron 9"/>
          <p:cNvSpPr/>
          <p:nvPr/>
        </p:nvSpPr>
        <p:spPr>
          <a:xfrm>
            <a:off x="2577868" y="2382012"/>
            <a:ext cx="219456" cy="219456"/>
          </a:xfrm>
          <a:prstGeom prst="chevron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72460" y="1691640"/>
            <a:ext cx="2104948" cy="16002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09620" y="1783080"/>
            <a:ext cx="18306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D6C0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09620" y="2167128"/>
            <a:ext cx="18306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ResNet18 CNN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9620" y="2587752"/>
            <a:ext cx="18306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2-phase transfer learning: frozen-backbone warmup → full fine-tune, cosine LR decay</a:t>
            </a:r>
          </a:p>
        </p:txBody>
      </p:sp>
      <p:sp>
        <p:nvSpPr>
          <p:cNvPr id="15" name="Chevron 14"/>
          <p:cNvSpPr/>
          <p:nvPr/>
        </p:nvSpPr>
        <p:spPr>
          <a:xfrm>
            <a:off x="4847408" y="2382012"/>
            <a:ext cx="219456" cy="219456"/>
          </a:xfrm>
          <a:prstGeom prst="chevron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2000" y="1691640"/>
            <a:ext cx="2104948" cy="16002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79160" y="1783080"/>
            <a:ext cx="18306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D6C0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9160" y="2167128"/>
            <a:ext cx="18306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Confidence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9160" y="2587752"/>
            <a:ext cx="18306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High confidence → auto-classify.  Low confidence → flagged “unknown pattern, manual review”</a:t>
            </a:r>
          </a:p>
        </p:txBody>
      </p:sp>
      <p:sp>
        <p:nvSpPr>
          <p:cNvPr id="20" name="Chevron 19"/>
          <p:cNvSpPr/>
          <p:nvPr/>
        </p:nvSpPr>
        <p:spPr>
          <a:xfrm>
            <a:off x="7116948" y="2382012"/>
            <a:ext cx="219456" cy="219456"/>
          </a:xfrm>
          <a:prstGeom prst="chevron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1540" y="1691640"/>
            <a:ext cx="2104948" cy="16002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48700" y="1783080"/>
            <a:ext cx="18306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D6C0"/>
                </a:solidFill>
                <a:latin typeface="Segoe U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48700" y="2167128"/>
            <a:ext cx="18306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Root-Cause Agents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8700" y="2587752"/>
            <a:ext cx="18306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Inspection → Process → Context → Root-Cause agents explain the defect's likely origin</a:t>
            </a:r>
          </a:p>
        </p:txBody>
      </p:sp>
      <p:sp>
        <p:nvSpPr>
          <p:cNvPr id="25" name="Chevron 24"/>
          <p:cNvSpPr/>
          <p:nvPr/>
        </p:nvSpPr>
        <p:spPr>
          <a:xfrm>
            <a:off x="9386488" y="2382012"/>
            <a:ext cx="219456" cy="219456"/>
          </a:xfrm>
          <a:prstGeom prst="chevron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581080" y="1691640"/>
            <a:ext cx="2104948" cy="16002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8240" y="1783080"/>
            <a:ext cx="18306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3DD6C0"/>
                </a:solidFill>
                <a:latin typeface="Segoe U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8240" y="2167128"/>
            <a:ext cx="18306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Action &amp; Learning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8240" y="2587752"/>
            <a:ext cx="18306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Investigation logged, severity scored, feeding future retraining runs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520440"/>
            <a:ext cx="3566160" cy="26974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7033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3D"/>
                </a:solidFill>
                <a:latin typeface="Segoe UI"/>
              </a:rPr>
              <a:t>MODEL, ON REAL DATA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1148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82.4%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451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FC0D3"/>
                </a:solidFill>
                <a:latin typeface="Segoe UI"/>
              </a:rPr>
              <a:t>Test accuracy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8006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0.822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3309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FC0D3"/>
                </a:solidFill>
                <a:latin typeface="Segoe UI"/>
              </a:rPr>
              <a:t>Macro F1-score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1675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AFC0D3"/>
                </a:solidFill>
                <a:latin typeface="Segoe UI"/>
              </a:rPr>
              <a:t>Defect classes detected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51960" y="3520440"/>
            <a:ext cx="3611880" cy="26974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2628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D6C0"/>
                </a:solidFill>
                <a:latin typeface="Segoe UI"/>
              </a:rPr>
              <a:t>WHAT MAKES IT UNIQUE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087368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▸  Safety-first OOD detection — refuses to force a wrong call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▸  Explains root cause, not just a label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▸  End-to-end factory workflow: batches, retraining, audit trail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Segoe UI"/>
              </a:rPr>
              <a:t>▸  Honest, real-data metrics — not a mocked demo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92440" y="3520440"/>
            <a:ext cx="3593592" cy="26974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6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A63D"/>
                </a:solidFill>
                <a:latin typeface="Segoe UI"/>
              </a:rPr>
              <a:t>TECH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66760" y="4087368"/>
            <a:ext cx="3154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D6C0"/>
                </a:solidFill>
                <a:latin typeface="Segoe UI"/>
              </a:rPr>
              <a:t>Frontend  </a:t>
            </a:r>
            <a:r>
              <a:rPr sz="1200" b="0">
                <a:solidFill>
                  <a:srgbClr val="FFFFFF"/>
                </a:solidFill>
                <a:latin typeface="Segoe UI"/>
              </a:rPr>
              <a:t>React + Vite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D6C0"/>
                </a:solidFill>
                <a:latin typeface="Segoe UI"/>
              </a:rPr>
              <a:t>Backend  </a:t>
            </a:r>
            <a:r>
              <a:rPr sz="1200" b="0">
                <a:solidFill>
                  <a:srgbClr val="FFFFFF"/>
                </a:solidFill>
                <a:latin typeface="Segoe UI"/>
              </a:rPr>
              <a:t>FastAPI + SQLite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D6C0"/>
                </a:solidFill>
                <a:latin typeface="Segoe UI"/>
              </a:rPr>
              <a:t>ML  </a:t>
            </a:r>
            <a:r>
              <a:rPr sz="1200" b="0">
                <a:solidFill>
                  <a:srgbClr val="FFFFFF"/>
                </a:solidFill>
                <a:latin typeface="Segoe UI"/>
              </a:rPr>
              <a:t>PyTorch, ResNet18 (transfer learning)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1">
                <a:solidFill>
                  <a:srgbClr val="3DD6C0"/>
                </a:solidFill>
                <a:latin typeface="Segoe UI"/>
              </a:rPr>
              <a:t>API  </a:t>
            </a:r>
            <a:r>
              <a:rPr sz="1200" b="0">
                <a:solidFill>
                  <a:srgbClr val="FFFFFF"/>
                </a:solidFill>
                <a:latin typeface="Segoe UI"/>
              </a:rPr>
              <a:t>~30 REST endpoints incl. live inference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CellMind  |  AI Quality Inspection for Solar Manufacturing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2 /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E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57200"/>
            <a:ext cx="457200" cy="54864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DD6C0"/>
                </a:solidFill>
                <a:latin typeface="Segoe UI"/>
              </a:rPr>
              <a:t>IMPACT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686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Segoe UI"/>
              </a:rPr>
              <a:t>Why It Matters — and Where It's Going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691640"/>
            <a:ext cx="2702052" cy="13716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56232"/>
            <a:ext cx="24277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DD6C0"/>
                </a:solidFill>
                <a:latin typeface="Segoe UI"/>
              </a:rPr>
              <a:t>5–25%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4277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Efficiency loss caused by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undetected panel defects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2132" y="1691640"/>
            <a:ext cx="2702052" cy="13716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9292" y="1856232"/>
            <a:ext cx="24277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DD6C0"/>
                </a:solidFill>
                <a:latin typeface="Segoe UI"/>
              </a:rPr>
              <a:t>Minutes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9292" y="2423160"/>
            <a:ext cx="24277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Inspection time per panel,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vs. manual visual checks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91640"/>
            <a:ext cx="2702052" cy="13716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8504" y="1856232"/>
            <a:ext cx="24277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DD6C0"/>
                </a:solidFill>
                <a:latin typeface="Segoe UI"/>
              </a:rPr>
              <a:t>Shift-left QA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8504" y="2423160"/>
            <a:ext cx="24277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Defects caught in production,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not after installation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0556" y="1691640"/>
            <a:ext cx="2702052" cy="137160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57716" y="1856232"/>
            <a:ext cx="24277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3DD6C0"/>
                </a:solidFill>
                <a:latin typeface="Segoe UI"/>
              </a:rPr>
              <a:t>Human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57716" y="2423160"/>
            <a:ext cx="24277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Confidence gating keeps a person</a:t>
            </a:r>
          </a:p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AFC0D3"/>
                </a:solidFill>
                <a:latin typeface="Segoe UI"/>
              </a:rPr>
              <a:t>in the loop — trustable automation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291840"/>
            <a:ext cx="5513832" cy="29260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4930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3DD6C0"/>
                </a:solidFill>
                <a:latin typeface="Segoe UI"/>
              </a:rPr>
              <a:t>NOT ANOTHER IMAGE CLASSIFIER DEMO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950208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D6C0"/>
                </a:solidFill>
                <a:latin typeface="Segoe UI"/>
              </a:rPr>
              <a:t>Safety over accuracy theatre — </a:t>
            </a:r>
            <a:r>
              <a:rPr sz="1250" b="0">
                <a:solidFill>
                  <a:srgbClr val="FFFFFF"/>
                </a:solidFill>
                <a:latin typeface="Segoe UI"/>
              </a:rPr>
              <a:t>when the model is unsure, it says so, instead of a confident-sounding wrong answer.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D6C0"/>
                </a:solidFill>
                <a:latin typeface="Segoe UI"/>
              </a:rPr>
              <a:t>Root cause, not just a label — </a:t>
            </a:r>
            <a:r>
              <a:rPr sz="1250" b="0">
                <a:solidFill>
                  <a:srgbClr val="FFFFFF"/>
                </a:solidFill>
                <a:latin typeface="Segoe UI"/>
              </a:rPr>
              <a:t>multi-agent reasoning links a defect back to the line, equipment, or camera behind it.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3DD6C0"/>
                </a:solidFill>
                <a:latin typeface="Segoe UI"/>
              </a:rPr>
              <a:t>Deployment-ready shape — </a:t>
            </a:r>
            <a:r>
              <a:rPr sz="1250" b="0">
                <a:solidFill>
                  <a:srgbClr val="FFFFFF"/>
                </a:solidFill>
                <a:latin typeface="Segoe UI"/>
              </a:rPr>
              <a:t>RBAC, audit logs, retraining runs and investigations mean this fits a real factory, not just a Kaggle notebook.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291840"/>
            <a:ext cx="5513832" cy="2926080"/>
          </a:xfrm>
          <a:prstGeom prst="roundRect">
            <a:avLst>
              <a:gd name="adj" fmla="val 6000"/>
            </a:avLst>
          </a:prstGeom>
          <a:solidFill>
            <a:srgbClr val="112A46"/>
          </a:solidFill>
          <a:ln w="12700">
            <a:solidFill>
              <a:srgbClr val="243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493008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F2A63D"/>
                </a:solidFill>
                <a:latin typeface="Segoe UI"/>
              </a:rPr>
              <a:t>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950208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>
                <a:solidFill>
                  <a:srgbClr val="FFFFFF"/>
                </a:solidFill>
                <a:latin typeface="Segoe UI"/>
              </a:rPr>
              <a:t>▸  Grad-CAM visual explainability — highlight the exact defect region on the panel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>
                <a:solidFill>
                  <a:srgbClr val="FFFFFF"/>
                </a:solidFill>
                <a:latin typeface="Segoe UI"/>
              </a:rPr>
              <a:t>▸  Live camera-stream integration on the production line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50">
                <a:solidFill>
                  <a:srgbClr val="FFFFFF"/>
                </a:solidFill>
                <a:latin typeface="Segoe UI"/>
              </a:rPr>
              <a:t>▸  Predictive maintenance: flag equipment before defect rates spike, using trend data already captured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CellMind  |  AI Quality Inspection for Solar Manufacturing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AFC0D3"/>
                </a:solidFill>
                <a:latin typeface="Segoe UI"/>
              </a:rPr>
              <a:t>3 /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DD6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